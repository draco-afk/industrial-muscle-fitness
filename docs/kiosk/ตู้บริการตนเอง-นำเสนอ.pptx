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CC4EC"/>
                </a:solidFill>
                <a:latin typeface="Leelawadee UI"/>
              </a:rPr>
              <a:t>โครงงาน  Industrial Muscle Fitness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Leelawadee UI"/>
              </a:rPr>
              <a:t>ตู้บริการตนเองอัจฉริยะ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CBDDF0"/>
                </a:solidFill>
                <a:latin typeface="Leelawadee UI"/>
              </a:rPr>
              <a:t>Self-Service Kiosk สำหรับฟิตเนส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114800"/>
            <a:ext cx="182880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Leelawadee UI"/>
              </a:rPr>
              <a:t>เช็คอินสมาชิก  ซื้อบัตรรายวัน  ซื้อสินค้า  ได้ด้วยตัวเองตลอด 24 ชั่วโมง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CC4EC"/>
                </a:solidFill>
                <a:latin typeface="Leelawadee UI"/>
              </a:rPr>
              <a:t>ต่อยอดจากระบบหลังบ้านบน Firebase ที่ยิมใช้งานจริงอยู่แล้ว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Leelawadee UI"/>
              </a:rPr>
              <a:t>งบประมาณเฟสแรก 33,810 บาท   ใช้งานได้จริงครบทุกฟังก์ชัน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ที่มาของโครงงาน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ปัญหาที่ยิมเจออยู่ตอนนี้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10515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50292" cy="10241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39"/>
            <a:ext cx="10104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คิวหน้าเคาน์เตอร์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9935"/>
            <a:ext cx="10104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ช่วงเย็น 17.00-19.00 คนมาพร้อมกัน พนักงานคนเดียวต้องทั้งเช็คอิน เก็บเงิน และขายของ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15768"/>
            <a:ext cx="10515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715768"/>
            <a:ext cx="50292" cy="10241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98648"/>
            <a:ext cx="10104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เปิดขายได้เฉพาะตอนมีคน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76943"/>
            <a:ext cx="10104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นอกเวลาพนักงาน ลูกค้ารายวันที่เดินมาถึงหน้ายิมต้องกลับ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22776"/>
            <a:ext cx="10515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22776"/>
            <a:ext cx="50292" cy="10241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05656"/>
            <a:ext cx="10104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เงินสดกับข้อมูลไม่ตรงกัน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83951"/>
            <a:ext cx="10104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จากรายงานจริง วันที่ 6 และ 20 สิงหาคม ยอดที่กรอกมือคลาดเคลื่อน ต้องมาไล่แก้ย้อนหลัง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29783"/>
            <a:ext cx="10515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129783"/>
            <a:ext cx="50292" cy="10241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12664"/>
            <a:ext cx="10104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พนักงานเสียเวลากับงานซ้ำ 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90959"/>
            <a:ext cx="10104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งานเช็คอินและขายรายวันเป็นงานที่ทำเหมือนกันทุกครั้ง เหมาะกับให้เครื่องทำแทน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ตั้งหลักก่อนเริ่ม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ภาพต้นแบบ กับ ของที่ทำได้จริงในงบนี้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Leelawadee UI"/>
              </a:rPr>
              <a:t>ภาพต้นแบบที่ดูไว้มีของหลายอย่างที่ราคาสูงมากหรือซื้อมาต่อเองไม่ได้  ตารางนี้แยกให้ชัดว่าอะไรทำได้ อะไรตัดทิ้ง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83080"/>
          <a:ext cx="10515600" cy="39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5394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สิ่งที่เห็นในภาพต้นแบบ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ทำได้ไหม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แผนจริง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จอสัมผัสใหญ่ เมนู 3 ภาษา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ทำได้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จอ 21.5 นิ้ว แนวตั้ง เมนูไทย/อังกฤษ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จอแสดงหน้าการ์ตูนด้านบน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ทำได้ ถูกด้วย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จอ IPS 7 นิ้ว ราคา 1,450 บาท อยู่ในเฟส 2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ช่องสแกน QR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ทำได้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สแกนเนอร์ 2D ฝังหน้าตู้ 1,590 บาท ใช้ได้ทั้งบัตรสมาชิก สินค้า และสลิป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ช่องพิมพ์ใบเสร็จ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ทำได้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เครื่องพิมพ์ความร้อน 80mm แบบฝัง 2,890 บาท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เครื่องรูดบัตร EDC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ทำไม่ได้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ซื้อมาต่อเองไม่ได้ ต้องทำสัญญาร้านค้ากับธนาคาร ใช้ PromptPay แทน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ช่องรับแบงก์และทอนเหรียญ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ทำได้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เครื่องรับธนบัตร + เครื่องทอนเหรียญ 2 ตัว รวม 22,790 บาท  ลูกค้าจ่ายเงินสด 52.5% จึงจำเป็น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ตัวเครื่องสแตนเลสทั้งใบ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ปรับแทน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Leelawadee UI"/>
                        </a:rPr>
                        <a:t>เหล็กพ่นสีฝุ่น ผิวเรียบเหมือนกัน ถูกกว่าประมาณ 8,000 บาท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ขอบเขตงาน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ตู้ทำอะไรได้บ้าง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34290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342900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2763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เช็คอินสมาชิก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880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Leelawadee UI"/>
              </a:rPr>
              <a:t>สแกนลายนิ้วมือ  หรือ  สแกน QR บัตรสมาชิก  หรือ  กรอกเบอร์โทร + PIN</a:t>
            </a:r>
            <a:br/>
            <a:br/>
            <a:r>
              <a:rPr sz="1200" b="0">
                <a:solidFill>
                  <a:srgbClr val="334155"/>
                </a:solidFill>
                <a:latin typeface="Leelawadee UI"/>
              </a:rPr>
              <a:t>ระบบเช็คอายุสมาชิกให้อัตโนมัติ ถ้าหมดอายุจะขึ้นเตือนพร้อมวันหมดอายุ และกันเช็คอินซ้ำในวันเดียวกัน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4290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429000" cy="685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2763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ซื้อบัตรรายวัน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2880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Leelawadee UI"/>
              </a:rPr>
              <a:t>เลือกผู้ใหญ่ 75 บาท หรือ นักเรียน 60 บาท  เลือกจำนวนคน</a:t>
            </a:r>
            <a:br/>
            <a:br/>
            <a:r>
              <a:rPr sz="1200" b="0">
                <a:solidFill>
                  <a:srgbClr val="334155"/>
                </a:solidFill>
                <a:latin typeface="Leelawadee UI"/>
              </a:rPr>
              <a:t>จ่ายด้วย PromptPay  พิมพ์ใบเสร็จ  ข้อมูลเข้ารายงานรายได้ทันที แยกหัวผู้ใหญ่กับนักเรียนให้เอง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4290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63040"/>
            <a:ext cx="3429000" cy="68580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0020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62763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ซื้อสินค้า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77440"/>
            <a:ext cx="2880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Leelawadee UI"/>
              </a:rPr>
              <a:t>เลือกจากตะกร้าสินค้า หรือสแกนบาร์โค้ดบนขวด</a:t>
            </a:r>
            <a:br/>
            <a:br/>
            <a:r>
              <a:rPr sz="1200" b="0">
                <a:solidFill>
                  <a:srgbClr val="334155"/>
                </a:solidFill>
                <a:latin typeface="Leelawadee UI"/>
              </a:rPr>
              <a:t>ตัดสต๊อกอัตโนมัติ และแจ้งเตือนของใกล้หมดเข้าหน้าผู้ดูแล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897880"/>
            <a:ext cx="10835640" cy="566928"/>
          </a:xfrm>
          <a:prstGeom prst="rect">
            <a:avLst/>
          </a:prstGeom>
          <a:solidFill>
            <a:srgbClr val="E3F3EA"/>
          </a:solidFill>
          <a:ln w="9525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7B4F"/>
                </a:solidFill>
                <a:latin typeface="Leelawadee UI"/>
              </a:rPr>
              <a:t>ทุกเมนูใช้ฟังก์ชันหลังบ้านที่ยิมใช้งานจริงอยู่แล้ว ไม่ต้องเขียนระบบใหม่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จุดแข็งของโครงงานนี้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ระบบหลังบ้านเสร็จแล้ว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Leelawadee UI"/>
              </a:rPr>
              <a:t>ยิมใช้ระบบบน Firebase อยู่แล้ว มีฟังก์ชันทั้งหมด 118 ตัว  ตู้ไม่ต้องสร้างระบบใหม่ แค่เรียกใช้ของเดิม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8521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852160" cy="5029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elawadee UI"/>
              </a:rPr>
              <a:t>มีอยู่แล้ว ใช้ได้เลย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loginMember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505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ล็อกอินด้วยเบอร์โทร + 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077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manualCheckIn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077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บันทึกเช็คอิน พร้อมกันเช็คอินซ้ำในวันเดียวกัน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fingerprintWebhook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64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รับสัญญาณจากเครื่องสแกนลายนิ้วมือ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1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getDailyPassPrices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22191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ดึงราคาบัตรรายวันผู้ใหญ่ / นักเรียน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793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processDailyPayment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793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บันทึกการขายรายวันและสินค้า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getProductList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7365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รายการสินค้าพร้อมสต๊อกคงเหลือ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937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getPaymentQRInfo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1937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ดึง QR รับเงินของยิม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50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Leelawadee UI"/>
              </a:rPr>
              <a:t>generateDailyReceiptPDF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650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ออกใบเสร็จ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783080"/>
            <a:ext cx="4389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1783080"/>
            <a:ext cx="4389120" cy="5029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87451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elawadee UI"/>
              </a:rPr>
              <a:t>ต้องทำเพิ่ม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468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หน้าเว็บสำหรับตู้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7432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แนวตั้ง ปุ่มใหญ่ กลับหน้าแรกเองใน 60 วินาที ประมาณ 3-4 วัน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4290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บัญชีผู้ดูแลของตู้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0332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สร้างเพิ่ม 1 บัญชี เพราะฟังก์ชันส่วนใหญ่ต้องยืนยันสิทธิ์ ประมาณ 10 นาที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3891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ล็อกเครื่องเป็นโหมดตู้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6344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เปิด Chrome แบบเต็มจอ ปิดทางออกสู่ Windows ประมาณครึ่งวัน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3492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ตัวเฝ้าระบบ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62356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ถ้าเบราว์เซอร์ปิดเองให้เปิดใหม่อัตโนมัติ ประมาณ 1 ชั่วโมง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ภาพรวมระบบ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ข้อมูลวิ่งจากตู้ไปไหนบ้าง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2004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Leelawadee UI"/>
              </a:rPr>
              <a:t>ในตัวตู้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จอสัมผัส 21.5 นิ้ว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เครื่องสแกน QR / บาร์โค้ด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เครื่องสแกนลายนิ้วมือ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เครื่องพิมพ์ใบเสร็จ 80mm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1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ลำโพงแจ้งผล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1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จอแสดงหน้า 7 นิ้ว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34840"/>
            <a:ext cx="2651760" cy="384048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ทั้งหมดต่อ USB / HDMI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286000"/>
            <a:ext cx="31089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487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elawadee UI"/>
              </a:rPr>
              <a:t>Mini PC  Intel N100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803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BDDF0"/>
                </a:solidFill>
                <a:latin typeface="Leelawadee UI"/>
              </a:rPr>
              <a:t>Chrome โหมดเต็มจอ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BDDF0"/>
                </a:solidFill>
                <a:latin typeface="Leelawadee UI"/>
              </a:rPr>
              <a:t>เปิดหน้า kiosk ของยิม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2971800"/>
            <a:ext cx="640080" cy="0"/>
          </a:xfrm>
          <a:prstGeom prst="line">
            <a:avLst/>
          </a:prstGeom>
          <a:ln w="317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2971800"/>
            <a:ext cx="640080" cy="0"/>
          </a:xfrm>
          <a:prstGeom prst="line">
            <a:avLst/>
          </a:prstGeom>
          <a:ln w="317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94760" y="26517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Leelawadee UI"/>
              </a:rPr>
              <a:t>USB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517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Leelawadee UI"/>
              </a:rPr>
              <a:t>เน็ต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463040"/>
            <a:ext cx="32918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463040"/>
            <a:ext cx="3291840" cy="4572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53619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Firebase  asia-southeast1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1214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Cloud Functions 118 ตัว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59689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Firestore ฐานข้อมูล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0723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Hosting หน้าเว็บ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54787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▸  Storage ใบเสร็จ / รูป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4114800"/>
            <a:ext cx="2743200" cy="777240"/>
          </a:xfrm>
          <a:prstGeom prst="rect">
            <a:avLst/>
          </a:prstGeom>
          <a:solidFill>
            <a:srgbClr val="E3F3EA"/>
          </a:solidFill>
          <a:ln w="9525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224528"/>
            <a:ext cx="2514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F7B4F"/>
                </a:solidFill>
                <a:latin typeface="Leelawadee UI"/>
              </a:rPr>
              <a:t>เซิร์ฟเวอร์อยู่สิงคโปร์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F7B4F"/>
                </a:solidFill>
                <a:latin typeface="Leelawadee UI"/>
              </a:rPr>
              <a:t>ตอบกลับเร็วกว่าเดิม 4 เท่า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114800"/>
            <a:ext cx="310896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22452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พนักงานยังใช้หน้าผู้ดูแลเดิมได้ตามปกติ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Leelawadee UI"/>
              </a:rPr>
              <a:t>เห็นรายการที่ตู้ขายแบบเรียลไทม์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0" y="3657600"/>
            <a:ext cx="0" cy="4572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ฮาร์ดแวร์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ของหลักที่เลือก และเหตุผล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468880"/>
                <a:gridCol w="914400"/>
                <a:gridCol w="57150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อุปกรณ์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สเปก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ราคา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ทำไมเลือกตัวนี้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Mini PC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Intel N100 / 16GB / 512GB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5,900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กินไฟ 12W เปิด 24 ชม. ได้ ต่อเครื่องพิมพ์ง่ายกว่า Raspberry 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จอสัมผัส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21.5 นิ้ว capacitive แนวตั้ง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7,500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ของแพงสุดในตู้ ถ้างบตึงลดเป็น 15.6 นิ้วเหลือ 4,500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สแกน QR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2D CMOS ฝังหน้าตู้ USB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1,590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ชิ้นเดียวอ่านได้ทั้งบัตรสมาชิก บาร์โค้ดสินค้า และสลิปโอนเงิน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เครื่องพิมพ์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Thermal 80mm แบบฝัง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2,890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ต้องเลือกรุ่นฝัง ไม่ใช่แบบตั้งโต๊ะ หน้าตู้จะเรียบร้อยกว่ามาก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สแกนลายนิ้วมือ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ของยิมที่ใช้อยู่แล้ว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ระบบรองรับอยู่แล้ว ย้ายเครื่องเดิมมาติด ประหยัด 3,900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Power Supply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Meanwell 12V 10A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780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ตู้เปิด 24 ชม. ของถูกมักพังใน 6 เดือน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เต้ารับกันดูด RCD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ตัดไฟที่ 30mA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650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ห้ามข้าม ตู้เป็นเหล็กทั้งใบ อยู่ในที่คนเหงื่อออก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97880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Leelawadee UI"/>
              </a:rPr>
              <a:t>ที่เหลือเป็นเหล็ก งานสี งานตัดเลเซอร์ และของจิปาถะ ดูรายการเต็มพร้อมร้านที่ซื้อได้ในไฟล์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งานโครงสร้าง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แบบตู้  กว้าง 450 x ลึก 450 x สูง 1,650 มม.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1417320"/>
            <a:ext cx="1172718" cy="4299966"/>
          </a:xfrm>
          <a:prstGeom prst="rect">
            <a:avLst/>
          </a:prstGeom>
          <a:solidFill>
            <a:srgbClr val="FFFFFF"/>
          </a:solidFill>
          <a:ln w="2222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124712"/>
            <a:ext cx="1172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ด้านหน้า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7240" y="1730044"/>
            <a:ext cx="429996" cy="26060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7240" y="1812340"/>
            <a:ext cx="4299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Leelawadee UI"/>
              </a:rPr>
              <a:t>จอหน้า 7 นิ้ว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60423" y="2094890"/>
            <a:ext cx="703630" cy="1250899"/>
          </a:xfrm>
          <a:prstGeom prst="rect">
            <a:avLst/>
          </a:prstGeom>
          <a:solidFill>
            <a:srgbClr val="1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0423" y="2597810"/>
            <a:ext cx="7036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Leelawadee UI"/>
              </a:rPr>
              <a:t>จอสัมผัส 21.5 นิ้ว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0423" y="2780690"/>
            <a:ext cx="70363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CBDDF0"/>
                </a:solidFill>
                <a:latin typeface="Leelawadee UI"/>
              </a:rPr>
              <a:t>แนวตั้ง เอียง 12 องศา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2242" y="3423970"/>
            <a:ext cx="312724" cy="1563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4061" y="3611605"/>
            <a:ext cx="46908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34155"/>
                </a:solidFill>
                <a:latin typeface="Leelawadee UI"/>
              </a:rPr>
              <a:t>สแกน QR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9510" y="3423970"/>
            <a:ext cx="312724" cy="15636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1329" y="3611605"/>
            <a:ext cx="46908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34155"/>
                </a:solidFill>
                <a:latin typeface="Leelawadee UI"/>
              </a:rPr>
              <a:t>ลายนิ้วมือ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5876" y="3752331"/>
            <a:ext cx="312724" cy="7296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60423" y="4121086"/>
            <a:ext cx="208483" cy="65151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90420" y="4108056"/>
            <a:ext cx="104241" cy="91211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9816" y="4375175"/>
            <a:ext cx="364845" cy="234543"/>
          </a:xfrm>
          <a:prstGeom prst="rect">
            <a:avLst/>
          </a:prstGeom>
          <a:solidFill>
            <a:srgbClr val="8A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9816" y="4475759"/>
            <a:ext cx="36484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Leelawadee UI"/>
              </a:rPr>
              <a:t>ถาดทอน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8000" y="4726990"/>
            <a:ext cx="1068476" cy="781812"/>
          </a:xfrm>
          <a:prstGeom prst="rect">
            <a:avLst/>
          </a:prstGeom>
          <a:noFill/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8000" y="4983022"/>
            <a:ext cx="10684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B42318"/>
                </a:solidFill>
                <a:latin typeface="Leelawadee UI"/>
              </a:rPr>
              <a:t>ห้องเก็บเงิน ล็อกแยก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99819" y="5482742"/>
            <a:ext cx="1224838" cy="234543"/>
          </a:xfrm>
          <a:prstGeom prst="rect">
            <a:avLst/>
          </a:prstGeom>
          <a:solidFill>
            <a:srgbClr val="EEF2F7"/>
          </a:solidFill>
          <a:ln w="1587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55711"/>
            <a:ext cx="1172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0">
                <a:solidFill>
                  <a:srgbClr val="334155"/>
                </a:solidFill>
                <a:latin typeface="Leelawadee UI"/>
              </a:rPr>
              <a:t>ฐาน ยึดพื้น 4 จุด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98598" y="1860346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10078" y="175061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1480 mm  จอหน้า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98598" y="2720340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10078" y="2610612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1150 mm  กึ่งกลางจอหลัก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98598" y="3502152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10078" y="33924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850 mm  ช่องสแกน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98598" y="3788816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10078" y="367908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740 mm  ช่องใบเสร็จ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98598" y="4153662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10078" y="404393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600 mm  ช่องสอดแบงก์ / หยอดเหรียญ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98598" y="4492447"/>
            <a:ext cx="365760" cy="0"/>
          </a:xfrm>
          <a:prstGeom prst="line">
            <a:avLst/>
          </a:prstGeom>
          <a:ln w="127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10078" y="4382719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4155"/>
                </a:solidFill>
                <a:latin typeface="Leelawadee UI"/>
              </a:rPr>
              <a:t>470 mm  ถาดรับเหรียญทอน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41832" y="1417320"/>
            <a:ext cx="0" cy="4299966"/>
          </a:xfrm>
          <a:prstGeom prst="line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-182879" y="339791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F2A4A"/>
                </a:solidFill>
                <a:latin typeface="Leelawadee UI"/>
              </a:rPr>
              <a:t>1,650 mm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25880" y="5991606"/>
            <a:ext cx="1172718" cy="0"/>
          </a:xfrm>
          <a:prstGeom prst="line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325880" y="6083046"/>
            <a:ext cx="1172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F2A4A"/>
                </a:solidFill>
                <a:latin typeface="Leelawadee UI"/>
              </a:rPr>
              <a:t>450 mm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1572768"/>
            <a:ext cx="5577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1572768"/>
            <a:ext cx="50292" cy="8046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755648"/>
            <a:ext cx="5166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ตู้ต้องโตขึ้นเพราะระบบเงินสด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1994187"/>
            <a:ext cx="51663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จาก 400x350 เป็น 450x450 มม.  เครื่องทอนเหรียญ 2 ตัววางเรียงกันกว้าง 300 มม. และกล่องเก็บแบงก์ลึก 250 มม.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487168"/>
            <a:ext cx="5577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2487168"/>
            <a:ext cx="50292" cy="8046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670048"/>
            <a:ext cx="5166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น้ำหนักรวมประมาณ 58 กก.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908587"/>
            <a:ext cx="51663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เดิม 40 กก. เพิ่มจากเครื่องทอน เหรียญเต็มถัง และเหล็กที่ใหญ่ขึ้น  หนักขึ้นแต่ยังเข็นย้ายได้ 2 คน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401568"/>
            <a:ext cx="5577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3401568"/>
            <a:ext cx="50292" cy="8046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584448"/>
            <a:ext cx="5166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ต้องยึดติดพื้น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822987"/>
            <a:ext cx="51663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พอมีเงินอยู่ในตู้ ตู้ที่ยกไปได้ทั้งใบคือความเสี่ยง  ใช้พุก M12 ยึด 4 จุดที่แผ่นฐาน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4315968"/>
            <a:ext cx="5577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4315968"/>
            <a:ext cx="50292" cy="8046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498848"/>
            <a:ext cx="5166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ห้องเก็บเงินล็อกแยก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737387"/>
            <a:ext cx="51663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คนที่เปิดตู้ไปเปลี่ยนกระดาษไม่ต้องเข้าถึงเงินได้  แยกคนดูแลเครื่องกับคนเก็บเงินออกจากกัน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5230368"/>
            <a:ext cx="5577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5230368"/>
            <a:ext cx="50292" cy="8046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5413248"/>
            <a:ext cx="5166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จอเอียง 12 องศา ลมเข้าล่างออกบน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651787"/>
            <a:ext cx="51663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ลดแสงสะท้อนจากไฟเพดาน  พัดลมดูดออกด้านบนพร้อมฟิลเตอร์กันฝุ่นยิม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6199632"/>
            <a:ext cx="5577840" cy="457200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629107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2318"/>
                </a:solidFill>
                <a:latin typeface="Leelawadee UI"/>
              </a:rPr>
              <a:t>ขอบบนจอสูง 1,390 มม. เกินระยะเอื้อมผู้ใช้รถเข็น ต้องวางปุ่มสำคัญไว้ครึ่งล่างของจอ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งานโครงสร้าง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รายการตัดเหล็กและแผ่นปิด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55778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1371600"/>
                <a:gridCol w="822960"/>
                <a:gridCol w="6400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รหัส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ชิ้นส่วน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วัสดุ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ยาว (มม.)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จำนวน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เสาตั้ง 4 มุม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25x25x1.2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1,650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B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คานด้านกว้าง (หน้า-หลัง)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25x25x1.2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350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10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คานด้านลึก (ซ้าย-ขวา)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25x25x1.2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D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ค้ำทแยงกันบิด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25x25x1.2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กรอบรับจอ เอียง 12°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25x25x1.2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350 / 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2 / 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F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ฐานล่าง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กล่อง 38x38x1.5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 / 274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2 / 2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526280"/>
            <a:ext cx="5577840" cy="1234440"/>
          </a:xfrm>
          <a:prstGeom prst="rect">
            <a:avLst/>
          </a:prstGeom>
          <a:solidFill>
            <a:srgbClr val="E3F3EA"/>
          </a:solidFill>
          <a:ln w="9525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B4F"/>
                </a:solidFill>
                <a:latin typeface="Leelawadee UI"/>
              </a:rPr>
              <a:t>ต้องซื้อจริง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เหล็กกล่อง 25x25x1.2   ใช้ 16.0 ม.   ซื้อ 4 ท่อน (24 ม.) เผื่อตัดเสีย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เหล็กกล่อง 38x38x1.5   ใช้ 1.35 ม.   ซื้อ 1 ท่อน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เหล็กแผ่น 1.2 มม. ขนาด 4x8 ฟุต   2 แผ่น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417320"/>
          <a:ext cx="49834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24231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แผ่นปิด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ขนาด (มม.)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งานที่ต้องทำ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แผ่นหน้า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 x 1,650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ตัดเลเซอร์ทุกช่อง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ข้างซ้าย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350 x 1,650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เจาะช่องลมเข้า + ฟิลเตอร์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ข้างขวา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350 x 1,650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เจาะช่องลมออก + พัดลม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ประตูหลัง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 x 1,300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พับขอบ + บานพับ + กุญแจ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แผ่นบน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 x 350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พับขอบลง 20 มม.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ปิดฐาน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400 x 350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Leelawadee UI"/>
                        </a:rPr>
                        <a:t>เจาะรูร้อยสาย + cable gland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37960" y="4526280"/>
            <a:ext cx="4983480" cy="1234440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645152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400"/>
                </a:solidFill>
                <a:latin typeface="Leelawadee UI"/>
              </a:rPr>
              <a:t>จ่ายค่าตัดเลเซอร์ 1,400 บาท คุ้มที่สุดในโครงงาน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ช่องจอ ช่องสแกน และช่องใบเสร็จต้องได้ฉากและได้ขนาดพอดี ถ้าเจียรมือเอง ขอบจะไม่ตรงและเห็นชัดมากตอนติดจอ รายการนี้เปลี่ยนงานจากดูเป็นงานนักศึกษา ให้ดูเหมือนของขาย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งานโครงสร้าง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ลำดับการขึ้นโครง 6 ขั้น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6420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ตัดเหล็กตามรายการ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ตัดให้ครบก่อนเชื่อม วัดซ้ำทุกชิ้น เหล็กที่ยาวไม่เท่ากันแค่ 2 มม. ทำให้ตู้บิดทั้งใบ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166420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เชื่อมฐานก่อน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011680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ทำฐาน 38x38 ให้ได้ฉากก่อน วางบนพื้นเรียบ ใช้ฉากเหล็กจับทุกมุม ฐานเบี้ยว = ตู้เบี้ยว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35808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035808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11296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3697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ตั้งเสา 4 ต้น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584448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เชื่อมยึดชั่วคราวก่อน (เชื่อมจุด) วัดทแยงมุมทั้งสองเส้นให้เท่ากัน แล้วค่อยเชื่อมเต็มแนว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35808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035808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511296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323697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ใส่คานทีละระดับ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584448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ไล่จากล่างขึ้นบน ใส่ค้ำทแยงด้านหลังกันโครงบิด แล้วเจียรรอยเชื่อมให้เรียบ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08576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608576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084064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809744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ลองประกอบแห้ง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57216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เอาจอ เครื่องพิมพ์ และ Mini PC ใส่ทดลองก่อนส่งพ่นสี ถ้าต้องเจาะเพิ่มจะได้ทำตอนนี้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08576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08576"/>
            <a:ext cx="59436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84064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Leelawade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4809744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ส่งพ่นสีฝุ่น แล้วประกอบจริง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5157216"/>
            <a:ext cx="4389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ถอดทุกอย่างออกให้หมดก่อนส่ง กลับมาแล้วค่อยเดินสายไฟและติดอุปกรณ์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งานไฟฟ้า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การเดินไฟในตู้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55448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1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ไฟบ้าน 220V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0662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ต้องมีสายดิน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331720"/>
            <a:ext cx="1463040" cy="7315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245059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RCD 30mA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70662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เต้ารับกันดูด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331720"/>
            <a:ext cx="146304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5059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เบรกเกอร์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0662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2P 6A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331720"/>
            <a:ext cx="155448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450591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ปลั๊กราง มอก.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70662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4 ช่อง มีกราวด์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2697480"/>
            <a:ext cx="41148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9080" y="2697480"/>
            <a:ext cx="41148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2697480"/>
            <a:ext cx="41148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9560" y="2697480"/>
            <a:ext cx="274319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83879" y="1783080"/>
            <a:ext cx="0" cy="260604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412480" y="1417320"/>
            <a:ext cx="310896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7" y="1536192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UPS 650VA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1792224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→ Mini PC 19V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83879" y="1783080"/>
            <a:ext cx="228601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412480" y="2286000"/>
            <a:ext cx="310896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7" y="2404872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อะแดปเตอร์จอ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2660904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12V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83879" y="2651760"/>
            <a:ext cx="228601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412480" y="3154680"/>
            <a:ext cx="3108960" cy="7315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7" y="3273552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อะแดปเตอร์เครื่องพิมพ์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7" y="3529584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24V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83879" y="3520440"/>
            <a:ext cx="228601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412480" y="4023360"/>
            <a:ext cx="3108960" cy="7315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7" y="4142232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Leelawadee UI"/>
              </a:rPr>
              <a:t>Power Supply 12V 10A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7" y="4398264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Leelawadee UI"/>
              </a:rPr>
              <a:t>Meanwell LRS-120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83879" y="4389120"/>
            <a:ext cx="228601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869680" y="4800600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4919472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34155"/>
                </a:solidFill>
                <a:latin typeface="Leelawadee UI"/>
              </a:rPr>
              <a:t>พัดลม 12V x 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595360" y="4754880"/>
            <a:ext cx="0" cy="237744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95360" y="4992624"/>
            <a:ext cx="274320" cy="0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869680" y="5257800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9407" y="5376672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34155"/>
                </a:solidFill>
                <a:latin typeface="Leelawadee UI"/>
              </a:rPr>
              <a:t>ไฟ LED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595360" y="4754880"/>
            <a:ext cx="0" cy="694944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95360" y="5449824"/>
            <a:ext cx="274320" cy="0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869680" y="5715000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79407" y="5833872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34155"/>
                </a:solidFill>
                <a:latin typeface="Leelawadee UI"/>
              </a:rPr>
              <a:t>ลำโพง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95360" y="4754880"/>
            <a:ext cx="0" cy="1152144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95360" y="5907024"/>
            <a:ext cx="274320" cy="0"/>
          </a:xfrm>
          <a:prstGeom prst="line">
            <a:avLst/>
          </a:prstGeom>
          <a:ln w="15875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40080" y="3749039"/>
            <a:ext cx="7269480" cy="914400"/>
          </a:xfrm>
          <a:prstGeom prst="rect">
            <a:avLst/>
          </a:prstGeom>
          <a:solidFill>
            <a:srgbClr val="FCE8E8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877056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2318"/>
                </a:solidFill>
                <a:latin typeface="Leelawadee UI"/>
              </a:rPr>
              <a:t>สายดิน  ห้ามข้าม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ต่อโครงเหล็กเข้าขั้วกราวด์ด้วยสาย 2.5 sq.mm สีเขียว-เหลือง  ต้องขัดสีตรงจุดยึดออกให้ถึงเนื้อเหล็ก ไม่งั้นสีฝุ่นจะกั้นไม่ให้กราวด์ถึง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86600" y="3063240"/>
            <a:ext cx="0" cy="685799"/>
          </a:xfrm>
          <a:prstGeom prst="line">
            <a:avLst/>
          </a:prstGeom>
          <a:ln w="2540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40080" y="4937760"/>
            <a:ext cx="7269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04748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สายสัญญาณจาก Mini PC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4132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USB → จอสัมผัส (ทัชสกรีน)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54132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USB → เครื่องสแกน QR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54132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USB → เครื่องพิมพ์ใบเสร็จ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7972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HDMI 1 → จอหลัก 21.5"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57972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HDMI 2 → จอหน้า 7"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60" y="57972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▸ LAN → เราเตอร์ยิม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623620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F7B4F"/>
                </a:solidFill>
                <a:latin typeface="Leelawadee UI"/>
              </a:rPr>
              <a:t>ใช้สาย LAN ดีกว่า WiFi  ยิมมีเครื่องออกกำลังกายที่ทำให้สัญญาณไม่นิ่ง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งานไฟฟ้า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5 ข้อที่ห้ามพลาด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106070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50292" cy="89611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82496"/>
            <a:ext cx="457200" cy="457200"/>
          </a:xfrm>
          <a:prstGeom prst="ellipse">
            <a:avLst/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ต้องมี RCD 30mA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2024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ตู้เป็นเหล็กทั้งใบ ตั้งอยู่ในที่คนเหงื่อออกและมีน้ำ ถ้าไฟรั่วลงโครงแล้วไม่มีตัวตัด คนที่มาแตะจอจะโดนเต็ม ๆ ราคา 650 บาท ถูกที่สุดในบรรดาของที่ซื้อทั้งหมด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96312"/>
            <a:ext cx="106070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96312"/>
            <a:ext cx="50292" cy="89611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2715768"/>
            <a:ext cx="457200" cy="457200"/>
          </a:xfrm>
          <a:prstGeom prst="ellipse">
            <a:avLst/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98064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633472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โครงเหล็กต้องต่อกราวด์จริง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953512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ขันน็อตทับสีฝุ่นไม่นับว่าต่อถึง ต้องขัดสีออกให้เห็นเนื้อเหล็กก่อนขันหางปลา แล้ววัดความต่อเนื่องด้วยมัลติมิเตอร์ยืนยัน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29584"/>
            <a:ext cx="106070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529584"/>
            <a:ext cx="50292" cy="89611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3749039"/>
            <a:ext cx="457200" cy="457200"/>
          </a:xfrm>
          <a:prstGeom prst="ellipse">
            <a:avLst/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31335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666744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ไม่ตั้งตู้ในจุดน้ำสาด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986783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หลีกเลี่ยงใกล้ตู้กดน้ำ ประตูห้องอาบน้ำ และทางที่คนถือขวดน้ำเดินผ่านเยอะ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562856"/>
            <a:ext cx="106070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62856"/>
            <a:ext cx="50292" cy="89611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" y="4782312"/>
            <a:ext cx="457200" cy="457200"/>
          </a:xfrm>
          <a:prstGeom prst="ellipse">
            <a:avLst/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64608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00016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ระบายความร้อนต้องมีทางเข้าและทางออก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020056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เจาะช่องลมเข้าด้านล่าง พัดลมดูดออกด้านบน ถ้าเจาะแค่ด้านเดียวลมจะไม่ไหล ตู้เหล็กปิดในยิมที่ไม่มีแอร์จะร้อนจนเครื่องดับ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96127"/>
            <a:ext cx="106070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596127"/>
            <a:ext cx="50292" cy="89611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" y="5815583"/>
            <a:ext cx="457200" cy="457200"/>
          </a:xfrm>
          <a:prstGeom prst="ellipse">
            <a:avLst/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97879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733288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2A4A"/>
                </a:solidFill>
                <a:latin typeface="Leelawadee UI"/>
              </a:rPr>
              <a:t>เดินสายไฟแยกจากสายสัญญาณ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6053327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สายไฟ 220V กับสาย USB ต้องไม่มัดรวมกัน จะกวนสัญญาณจนทัชสกรีนเพี้ยนและเครื่องพิมพ์พิมพ์ตัวอักษรมั่ว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ลูกค้าซื้อบัตรรายวันด้วยตัวเอง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69164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1.  แตะจอ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เซนเซอร์เห็นคนเดินมา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จอสว่างขึ้นเอง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971800"/>
            <a:ext cx="219456" cy="0"/>
          </a:xfrm>
          <a:prstGeom prst="line">
            <a:avLst/>
          </a:prstGeom>
          <a:ln w="254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459736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9736" y="1828800"/>
            <a:ext cx="169164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2.  เลือกเมนู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กดปุ่ม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ซื้อบัตรรายวัน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51376" y="2971800"/>
            <a:ext cx="219455" cy="0"/>
          </a:xfrm>
          <a:prstGeom prst="line">
            <a:avLst/>
          </a:prstGeom>
          <a:ln w="254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370831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1" y="1828800"/>
            <a:ext cx="169164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3.  เลือกประเภท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ผู้ใหญ่ 75 บาท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นักเรียน 60 บาท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เลือกจำนวนคน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62471" y="2971800"/>
            <a:ext cx="219456" cy="0"/>
          </a:xfrm>
          <a:prstGeom prst="line">
            <a:avLst/>
          </a:prstGeom>
          <a:ln w="254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81927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7" y="1828800"/>
            <a:ext cx="169164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7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4.  จ่ายเงิน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จอขึ้น QR PromptPay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ลูกค้าสแกนจากแอปธนาคาร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73567" y="2971800"/>
            <a:ext cx="219456" cy="0"/>
          </a:xfrm>
          <a:prstGeom prst="line">
            <a:avLst/>
          </a:prstGeom>
          <a:ln w="254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193023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3" y="1828800"/>
            <a:ext cx="1691640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3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5.  ยืนยันยอด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เอาสลิปจ่อช่องสแกน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ระบบตรวจว่าเงินเข้าจริง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84663" y="2971800"/>
            <a:ext cx="219456" cy="0"/>
          </a:xfrm>
          <a:prstGeom prst="line">
            <a:avLst/>
          </a:prstGeom>
          <a:ln w="25400">
            <a:solidFill>
              <a:srgbClr val="E859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04119" y="1828800"/>
            <a:ext cx="1691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19" y="1828800"/>
            <a:ext cx="1691640" cy="566928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19385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6.  รับใบเสร็จ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606040"/>
            <a:ext cx="1417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พิมพ์ใบเสร็จ</a:t>
            </a:r>
            <a:br/>
            <a:r>
              <a:rPr sz="1000" b="0">
                <a:solidFill>
                  <a:srgbClr val="334155"/>
                </a:solidFill>
                <a:latin typeface="Leelawadee UI"/>
              </a:rPr>
              <a:t>ประตูเปิด เข้าใช้ได้เลย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7B4F"/>
                </a:solidFill>
                <a:latin typeface="Leelawadee UI"/>
              </a:rPr>
              <a:t>ทั้งหมดใช้เวลาประมาณ 40 วินาที  ไม่ต้องมีพนักงาน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07040" cy="137160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29200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กรณีที่ต้องเตรียมรับมือ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94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เน็ตล่ม  —  ขึ้นหน้าจอชัดเจนว่าเรียกพนักงาน ไม่ปล่อยให้หน้าเว็บพัง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394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จ่ายแล้วกระดาษหมด  —  บันทึกรายการก่อนพิมพ์เสมอ แล้วส่งใบเสร็จเข้า LINE แทน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338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สมาชิกหมดอายุ  —  แจ้งวันหมดอายุพร้อมปุ่มต่ออายุ ไม่ใช่แค่ปฏิเสธเฉย 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8338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ลูกค้าเดินหนีกลางคัน  —  ไม่มีคนแตะ 60 วินาที ยกเลิกรายการและกลับหน้าแรก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จุดที่ต้องตัดสินใจ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ลูกค้าจ่ายเงินยังไง  ดูจากข้อมูลจริง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Leelawadee UI"/>
              </a:rPr>
              <a:t>นับจากบิลรายวันจริง 870 ใบ ในระบบ ระหว่าง 1 สิงหาคม ถึง 10 กันยายน 2569  รวม 41 วันที่มีการขาย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120640" cy="5486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B42318"/>
                </a:solidFill>
                <a:latin typeface="Leelawadee UI"/>
              </a:rPr>
              <a:t>52.5%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  <a:latin typeface="Leelawadee UI"/>
              </a:rPr>
              <a:t>จ่ายเงินสด   457 บิล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906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Leelawadee UI"/>
              </a:rPr>
              <a:t>คิดเป็นเงิน 43,352 บาท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20640" cy="548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F2A4A"/>
                </a:solidFill>
                <a:latin typeface="Leelawadee UI"/>
              </a:rPr>
              <a:t>47.5%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  <a:latin typeface="Leelawadee UI"/>
              </a:rPr>
              <a:t>โอนเงิน   413 บิล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906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Leelawadee UI"/>
              </a:rPr>
              <a:t>คิดเป็นเงิน 30,377 บาท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40480"/>
            <a:ext cx="10607040" cy="914400"/>
          </a:xfrm>
          <a:prstGeom prst="rect">
            <a:avLst/>
          </a:prstGeom>
          <a:solidFill>
            <a:srgbClr val="FCE8E8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968496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2318"/>
                </a:solidFill>
                <a:latin typeface="Leelawadee UI"/>
              </a:rPr>
              <a:t>ตอนแรกผมแนะนำให้ตัดระบบเงินสดทิ้ง  ตัวเลขชุดนี้บอกว่าคำแนะนำนั้นผิด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Leelawadee UI"/>
              </a:rPr>
              <a:t>ถ้าตู้รับแต่ QR จะใช้ได้กับลูกค้าไม่ถึงครึ่ง  คนอีก 52.5% ก็ยังต้องไปต่อคิวที่เคาน์เตอร์เหมือนเดิม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" y="4937760"/>
          <a:ext cx="1060704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58521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ตัวเลขจริง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ค่า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Leelawadee UI"/>
                        </a:rPr>
                        <a:t>แปลว่าอะไรกับการออกแบบตู้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ยอดบิลที่เจอบ่อยสุด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75 บาท (280 บิล)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ลูกค้ายื่นแบงก์ร้อย ต้องทอน 25 บาท = เหรียญ 10 สองเหรียญ + เหรียญ 5 หนึ่งเหรียญ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ทอนเยอะสุดในบิลเดียว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4 เหรียญ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นักเรียน 60 บาท จ่ายแบงก์ร้อย ทอน 40 บาท  ใช้เวลาทอนประมาณ 3 วินาที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เงินสดเข้าตู้ต่อวัน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ประมาณ 634 บาท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ถ้าตู้รับงาน 60%  เก็บเงินทุก 2-3 วันก็พอ ไม่ต้องเก็บทุกวัน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บิลที่มีเศษสตางค์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4 บิล (67.50 และ 87.50)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มาจากส่วนลดเป็นเปอร์เซ็นต์  เครื่องทอนเหรียญทอนสตางค์ไม่ได้ ต้องปัดเป็นหลัก 5 บาท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ระบบรับเงินสด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ของที่ต้องซื้อ และต่อกันยังไง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200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200400" cy="50292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96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Leelawadee UI"/>
              </a:rPr>
              <a:t>เงินเข้า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2A4A"/>
                </a:solidFill>
                <a:latin typeface="Leelawadee UI"/>
              </a:rPr>
              <a:t>เครื่องรับธนบัตร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0312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334155"/>
                </a:solidFill>
                <a:latin typeface="Leelawadee UI"/>
              </a:rPr>
              <a:t>7,500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3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รับแค่ 20 / 50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7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2A4A"/>
                </a:solidFill>
                <a:latin typeface="Leelawadee UI"/>
              </a:rPr>
              <a:t>เครื่องรับเหรียญ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79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334155"/>
                </a:solidFill>
                <a:latin typeface="Leelawadee UI"/>
              </a:rPr>
              <a:t>1,190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39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รับ 1 / 2 / 5 / 10 บาท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3200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3200400" cy="5029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599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Leelawadee UI"/>
              </a:rPr>
              <a:t>เงินออก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2A4A"/>
                </a:solidFill>
                <a:latin typeface="Leelawadee UI"/>
              </a:rPr>
              <a:t>เครื่องทอนเหรียญ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6634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334155"/>
                </a:solidFill>
                <a:latin typeface="Leelawadee UI"/>
              </a:rPr>
              <a:t>4,200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ใส่ 300 เหรียญ อยู่ได้ 40 วัน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2A4A"/>
                </a:solidFill>
                <a:latin typeface="Leelawadee UI"/>
              </a:rPr>
              <a:t>เครื่องทอนเหรียญ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4864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334155"/>
                </a:solidFill>
                <a:latin typeface="Leelawadee UI"/>
              </a:rPr>
              <a:t>4,200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ใส่ 200 เหรียญ อยู่ได้ 85 วัน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200400"/>
            <a:ext cx="2834640" cy="13716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4015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Leelawadee UI"/>
              </a:rPr>
              <a:t>บอร์ดควบคุมเงินสด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CBDDF0"/>
                </a:solidFill>
                <a:latin typeface="Leelawadee UI"/>
              </a:rPr>
              <a:t>Arduino + ออปโตคัปเปลอร์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850 บาท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2606040"/>
            <a:ext cx="594360" cy="96012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40480" y="4206240"/>
            <a:ext cx="594360" cy="96012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69480" y="3886200"/>
            <a:ext cx="5943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863840" y="3520440"/>
            <a:ext cx="1737360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73075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Mini PC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5661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Leelawadee UI"/>
              </a:rPr>
              <a:t>USB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1417320"/>
            <a:ext cx="1737360" cy="4937760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1600200"/>
            <a:ext cx="1463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5400"/>
                </a:solidFill>
                <a:latin typeface="Leelawadee UI"/>
              </a:rPr>
              <a:t>ทำไมต้องมี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8A5400"/>
                </a:solidFill>
                <a:latin typeface="Leelawadee UI"/>
              </a:rPr>
              <a:t>บอร์ดควบคุม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เครื่องรับเงินกับเครื่องทอนคุยกันเป็นสัญญาณพัลส์ ไม่ใช่ USB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บอร์ดนี้แปลงให้คอมอ่านได้ และเป็นตัวนับเหรียญที่ทอนออกจริง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5120640"/>
            <a:ext cx="5166360" cy="1234440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5230368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Leelawadee UI"/>
              </a:rPr>
              <a:t>ต้องปิดรับแบงก์ 500 และ 1000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ถ้ารับแบงก์ 500 มาจ่ายค่าเข้า 75 บาท ต้องทอน 425 บาท = เหรียญ 10 จำนวน 43 เหรียญ ใช้เวลาเกือบ 40 วินาที และเหรียญหมดในบิลเดียว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1417320"/>
            <a:ext cx="5166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15361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รวมระบบเงินสดทั้งชุด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187451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8590C"/>
                </a:solidFill>
                <a:latin typeface="Leelawadee UI"/>
              </a:rPr>
              <a:t>22,790 บาท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239572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รวมกล่องเก็บเงินล็อกแยก พุกยึดพื้น เหล็กเพิ่ม และค่าตัดเลเซอร์ช่องเงินแล้ว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7B4F"/>
                </a:solidFill>
                <a:latin typeface="Leelawadee UI"/>
              </a:rPr>
              <a:t>ต้องเตรียมเหรียญใส่เครื่องอีก 4,000 บาท ซึ่งเป็นเงินที่จมไว้ ไม่ใช่ค่าใช้จ่าย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ระบบรับเงินสด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กฎที่ซอฟต์แวร์ต้องทำให้ถูก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50292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719072"/>
            <a:ext cx="685800" cy="347472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2318"/>
                </a:solidFill>
                <a:latin typeface="Leelawadee UI"/>
              </a:rPr>
              <a:t>สูง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58191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นับเงินให้ครบก่อน ค่อยให้บริการ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90195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ลูกค้าหยอดทีละใบ จอต้องขึ้นยอดที่รับแล้วตลอดเวลา  บันทึกการขายเข้าระบบก่อน แล้วค่อยสั่งทอน ถ้าไฟดับกลางคัน ต้องมีหลักฐานว่ารับเงินไปเท่าไหร่แล้ว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50292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724912"/>
            <a:ext cx="685800" cy="347472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2318"/>
                </a:solidFill>
                <a:latin typeface="Leelawadee UI"/>
              </a:rPr>
              <a:t>สูง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8775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เหรียญใกล้หมด ต้องปิดปุ่มเงินสดทันที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90779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นับเหรียญที่ทอนออกไปทุกเหรียญจากเซนเซอร์  ถ้าเหลือน้อยกว่าที่อาจต้องทอน ให้ขึ้นว่ารับเฉพาะ QR ห้ามรับเงินไปแล้วทอนไม่ได้เด็ดขาด นี่คือบั๊กที่ทำให้ลูกค้าโกรธที่สุด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47472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73075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9476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59359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ทอนไม่ครบ ต้องพิมพ์ใบแจ้งให้พนักงาน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1363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ถ้าสั่งทอน 4 เหรียญแต่เซนเซอร์นับได้ 3 แปลว่าเหรียญติด  หยุดทันที พิมพ์สลิปบอกยอดที่ค้าง และบันทึกเข้าระบบให้พนักงานจ่ายคืน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8056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48056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473659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59943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ปัดยอดเป็นหลัก 5 บาทเมื่อจ่ายเงินสด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91947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ข้อมูลจริงมี 4 บิลที่ยอดลงท้าย .50 บาทจากส่วนลดเป็นเปอร์เซ็นต์  เครื่องทอนเหรียญทอนสตางค์ไม่ได้ ให้ปัดลงเข้าข้างลูกค้า หรือบังคับจ่ายผ่าน QR สำหรับบิลแบบนั้น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8640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574243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560527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สรุปยอดเงินสดให้ตรงทุกวัน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92531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ตู้ต้องรายงานว่าควรมีเงินในกล่องเท่าไหร่ เทียบกับที่นับได้จริง  ระบบมี getDailyPaymentLogs อยู่แล้ว ใช้ต่อได้เลย ต้องเพิ่มแค่ช่องเก็บยอดรับมาและยอดทอน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งบประมาณ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แบ่งจ่ายเป็น 3 เฟส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291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3291840" cy="56692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727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เฟส 1  ตัวตู้และระบบหลัก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945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2A4A"/>
                </a:solidFill>
                <a:latin typeface="Leelawadee UI"/>
              </a:rPr>
              <a:t>34,070 บาท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จอสัมผัส สแกน QR เครื่องพิมพ์ โครงเหล็ก งานสี  รับเงินผ่าน QR ได้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63040"/>
            <a:ext cx="3291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291840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5727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เฟส 3  ระบบเงินสด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1945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2A4A"/>
                </a:solidFill>
                <a:latin typeface="Leelawadee UI"/>
              </a:rPr>
              <a:t>22,790 บาท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83464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เครื่องรับธนบัตร เครื่องทอนเหรียญ 2 ตัว บอร์ดควบคุม กล่องเก็บเงิน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291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63040"/>
            <a:ext cx="3291840" cy="56692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727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Leelawadee UI"/>
              </a:rPr>
              <a:t>เฟส 2  ของเสริม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1945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2A4A"/>
                </a:solidFill>
                <a:latin typeface="Leelawadee UI"/>
              </a:rPr>
              <a:t>10,920 บาท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83464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4155"/>
                </a:solidFill>
                <a:latin typeface="Leelawadee UI"/>
              </a:rPr>
              <a:t>จอหน้า AI ไฟ LED UPS เน็ตสำรอง  ทำทีหลังได้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31920"/>
            <a:ext cx="1060704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elawadee UI"/>
              </a:rPr>
              <a:t>รวมทั้งโครงการ  (เฟส 1 + 3 + 2 + ค่าจ้างเชื่อม 2,000)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041648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Leelawadee UI"/>
              </a:rPr>
              <a:t>69,780 บาท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800600"/>
            <a:ext cx="5120640" cy="960120"/>
          </a:xfrm>
          <a:prstGeom prst="rect">
            <a:avLst/>
          </a:prstGeom>
          <a:solidFill>
            <a:srgbClr val="E3F3EA"/>
          </a:solidFill>
          <a:ln w="9525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1947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7B4F"/>
                </a:solidFill>
                <a:latin typeface="Leelawadee UI"/>
              </a:rPr>
              <a:t>เริ่มจากเฟส 1 + 3 ก็พอ  56,860 บาท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ได้ตู้ที่รับได้ทั้งเงินสดและ QR ครบทุกเมนู  เฟส 2 ค่อยเติมทีหลัง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00600"/>
            <a:ext cx="5120640" cy="960120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91947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8A5400"/>
                </a:solidFill>
                <a:latin typeface="Leelawadee UI"/>
              </a:rPr>
              <a:t>บวกเหรียญที่ต้องเตรียมอีก 4,000 บาท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เหรียญ 10 จำนวน 300 เหรียญ + เหรียญ 5 จำนวน 200 เหรียญ  เป็นเงินที่จมไว้ ได้คืนตอนเลิกใช้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Leelawadee UI"/>
              </a:rPr>
              <a:t>ราคาเป็นค่าประมาณ ณ กันยายน 2569 จาก Shopee Lazada และร้านวัสดุ  ควรเช็คราคาจริงก่อนสั่งซื้อ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การตัดสินใจเลือกของ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ของที่ตัดออก ประหยัดไป 95,900 บาท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Leelawadee UI"/>
              </a:rPr>
              <a:t>การเลือกไม่ซื้อสำคัญพอ ๆ กับการเลือกซื้อ  ทุกรายการนี้ตัดแล้วตู้ยังทำงานครบทุกอย่างที่ยิมต้องใช้จริง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6070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64008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ของที่ตัดออก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ราคา (บาท)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</a:rPr>
                        <a:t>เหตุผล</a:t>
                      </a:r>
                    </a:p>
                  </a:txBody>
                  <a:tcPr marL="82296" marR="82296" marT="27432" marB="27432" anchor="ctr">
                    <a:solidFill>
                      <a:srgbClr val="0F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หุ่นยนต์เคลื่อนที่ได้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80,000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แพงกว่าทั้งโครงงานหลายเท่า ลูกค้าต้องเดินมาที่ประตูอยู่แล้ว ตู้ยืนนิ่งตอบโจทย์กว่า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จอสัมผัส 32 นิ้ว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12,000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ใหญ่เกินสำหรับเมนู 3 ปุ่ม ตู้ต้องกว้างตาม และปุ่มบนสุดจะสูงเกินเอื้อม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เครื่องสแกนลายนิ้วมือใหม่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3,900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ไม่ต้องซื้อ ยิมมีอยู่แล้วและระบบรองรับ ย้ายเครื่องเดิมมาติดได้เลย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เครื่องรูดบัตร EDC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ซื้อไม่ได้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Leelawadee UI"/>
                        </a:rPr>
                        <a:t>ต้องทำสัญญาร้านค้ากับธนาคาร มีค่าธรรมเนียมต่อรายการและมักมีค่าเช่าเครื่อง</a:t>
                      </a:r>
                    </a:p>
                  </a:txBody>
                  <a:tcPr marL="82296" marR="82296" marT="27432" marB="27432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4572000"/>
            <a:ext cx="10607040" cy="1371600"/>
          </a:xfrm>
          <a:prstGeom prst="rect">
            <a:avLst/>
          </a:prstGeom>
          <a:solidFill>
            <a:srgbClr val="E3F3EA"/>
          </a:solidFill>
          <a:ln w="12700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0016"/>
            <a:ext cx="10149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7B4F"/>
                </a:solidFill>
                <a:latin typeface="Leelawadee UI"/>
              </a:rPr>
              <a:t>จุดที่ผมเปลี่ยนคำแนะนำ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Leelawadee UI"/>
              </a:rPr>
              <a:t>ตอนแรกผมใส่เครื่องรับธนบัตรกับเครื่องทอนเหรียญไว้ในรายการที่ตัดออกด้วย เพราะคิดว่าจะจุกจิกและต้องดูแลทุกวัน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F2A4A"/>
                </a:solidFill>
                <a:latin typeface="Leelawadee UI"/>
              </a:rPr>
              <a:t>พอไปนับข้อมูลจริง 870 บิล พบว่าลูกค้าจ่ายเงินสด 52.5% และใช้เหรียญแค่วันละ 10 เหรียญ เติมเดือนละครั้งพอ  เหตุผลที่ผมใช้ตัดออกเลยไม่จริง จึงย้ายกลับมาเป็นเฟส 3 ที่ต้องทำ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การตัดสินใจ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ทำเอง หรือ ซื้อสำเร็จรูป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640080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55063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แท็บเล็ต + ขาตั้ง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3911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ถูกและเร็วที่สุด แต่ไม่มีที่พิมพ์ใบเสร็จ ไม่มีที่สแกน รับเงินสดไม่ได้ และดูเหมือนเอาแท็บเล็ตมาวางเฉย 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73351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9,000 บาท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9659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2 วัน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1965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59E0B"/>
                </a:solidFill>
                <a:latin typeface="Leelawadee UI"/>
              </a:rPr>
              <a:t>★★☆☆☆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97480"/>
            <a:ext cx="10607040" cy="1051560"/>
          </a:xfrm>
          <a:prstGeom prst="rect">
            <a:avLst/>
          </a:prstGeom>
          <a:solidFill>
            <a:srgbClr val="E3F3EA"/>
          </a:solidFill>
          <a:ln w="12700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97480"/>
            <a:ext cx="640080" cy="105156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84378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B4F"/>
                </a:solidFill>
                <a:latin typeface="Leelawadee UI"/>
              </a:rPr>
              <a:t>ต่อเอง   ← เลือกทางนี้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22783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ทางเดียวในตารางนี้ที่รับเงินสดได้ จึงใช้ได้กับลูกค้าทุกคน  ควบคุมได้ทุกอย่างและต่อเข้าระบบยิมได้ตรง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62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56,860 บาท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1546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5-6 สัปดาห์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00837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59E0B"/>
                </a:solidFill>
                <a:latin typeface="Leelawadee UI"/>
              </a:rPr>
              <a:t>★★★★★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886200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886200"/>
            <a:ext cx="640080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03250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POS สำเร็จรูป Sunmi / iMin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41655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ประกอบเร็ว ได้จอ เครื่องพิมพ์ และสแกนเนอร์ในเครื่องเดียว แต่ต่อเครื่องทอนเหรียญไม่ได้ ใช้ได้กับลูกค้าแค่ 47.5%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050791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28,000 บาท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3434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3 วัน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19709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59E0B"/>
                </a:solidFill>
                <a:latin typeface="Leelawadee UI"/>
              </a:rPr>
              <a:t>★★★☆☆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640080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22122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Leelawadee UI"/>
              </a:rPr>
              <a:t>ตู้ Kiosk สำเร็จรูปนำเข้า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0527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สวยที่สุดแต่แพงกว่าเท่าตัว รอของนาน และยังต้องเขียนซอฟต์แวร์เองอยู่ดี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239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Leelawadee UI"/>
              </a:rPr>
              <a:t>120,000+ บาท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532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6-8 สัปดาห์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38581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59E0B"/>
                </a:solidFill>
                <a:latin typeface="Leelawadee UI"/>
              </a:rPr>
              <a:t>★★☆☆☆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ความคุ้มค่า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ระบบเงินสดแพงขึ้น แต่คืนทุนเร็วขึ้น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5120640" cy="5486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64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748B"/>
                </a:solidFill>
                <a:latin typeface="Leelawadee UI"/>
              </a:rPr>
              <a:t>ถ้าไม่ใส่ระบบเงินสด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64748B"/>
                </a:solidFill>
                <a:latin typeface="Leelawadee UI"/>
              </a:rPr>
              <a:t>32 เดือน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ตู้ใช้ได้กับลูกค้าที่โอนเงินเท่านั้น 47.5%  รับงานได้จริงราว 30% ของบิล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ประหยัดค่าแรงประมาณ 1,080 บาท/เดือน  ลงทุน 34,070 บาท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120640" cy="2194560"/>
          </a:xfrm>
          <a:prstGeom prst="rect">
            <a:avLst/>
          </a:prstGeom>
          <a:solidFill>
            <a:srgbClr val="E3F3EA"/>
          </a:solidFill>
          <a:ln w="12700">
            <a:solidFill>
              <a:srgbClr val="0F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120640" cy="54864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64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B4F"/>
                </a:solidFill>
                <a:latin typeface="Leelawadee UI"/>
              </a:rPr>
              <a:t>ถ้าใส่ระบบเงินสดด้วย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7B4F"/>
                </a:solidFill>
                <a:latin typeface="Leelawadee UI"/>
              </a:rPr>
              <a:t>26 เดือน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ตู้รับได้ทุกคน ตั้งเป้ารับงาน 60% ของบิล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ประหยัดค่าแรงประมาณ 2,160 บาท/เดือน  ลงทุน 56,860 บาท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86200"/>
            <a:ext cx="10607040" cy="7772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41648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Leelawadee UI"/>
              </a:rPr>
              <a:t>จ่ายเพิ่ม 22,790 บาท แล้วคืนทุนเร็วขึ้น 6 เดือน  เพราะตู้ใช้ได้กับลูกค้าทุกคน แทนที่จะได้แค่ครึ่งเดียว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6320"/>
            <a:ext cx="5120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560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งานที่เพิ่มขึ้นจากเงินสด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▸  เก็บเงินทุก 2-3 วัน  ครั้งละประมาณ 10 นาที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327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▸  เติมเหรียญเดือนละครั้ง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436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▸  รวมประมาณ 2 ชั่วโมง/เดือน = ราว 120 บาท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846320"/>
            <a:ext cx="5120640" cy="1463040"/>
          </a:xfrm>
          <a:prstGeom prst="rect">
            <a:avLst/>
          </a:prstGeom>
          <a:solidFill>
            <a:srgbClr val="FFF6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560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400"/>
                </a:solidFill>
                <a:latin typeface="Leelawadee UI"/>
              </a:rPr>
              <a:t>ข้อเท็จจริงที่ต้องพูดตรง 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คืนทุน 26 เดือนถือว่าไม่เร็วถ้าดูเฉพาะตัวเงิน  คุณค่าจริงอยู่ที่เปิดบริการได้ 24 ชั่วโมง ไม่มีเงินสดหาย และข้อมูลเข้าระบบครบทุกรายการ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แผนงาน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6 สัปดาห์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103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103120" cy="7772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DF0"/>
                </a:solidFill>
                <a:latin typeface="Leelawadee UI"/>
              </a:rPr>
              <a:t>สัปดาห์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28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สั่งของ + เขียนหน้าเว็บ</a:t>
            </a:r>
          </a:p>
        </p:txBody>
      </p:sp>
      <p:sp>
        <p:nvSpPr>
          <p:cNvPr id="11" name="Oval 10"/>
          <p:cNvSpPr/>
          <p:nvPr/>
        </p:nvSpPr>
        <p:spPr>
          <a:xfrm>
            <a:off x="804671" y="2450592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สั่งอุปกรณ์ทั้งหมด รวมเครื่องทอนเหรียญ</a:t>
            </a:r>
          </a:p>
        </p:txBody>
      </p:sp>
      <p:sp>
        <p:nvSpPr>
          <p:cNvPr id="13" name="Oval 12"/>
          <p:cNvSpPr/>
          <p:nvPr/>
        </p:nvSpPr>
        <p:spPr>
          <a:xfrm>
            <a:off x="804671" y="3346704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918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ส่งแบบให้ร้านตัดเลเซอร์</a:t>
            </a:r>
          </a:p>
        </p:txBody>
      </p:sp>
      <p:sp>
        <p:nvSpPr>
          <p:cNvPr id="15" name="Oval 14"/>
          <p:cNvSpPr/>
          <p:nvPr/>
        </p:nvSpPr>
        <p:spPr>
          <a:xfrm>
            <a:off x="804671" y="4242816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87952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จองคิวร้านพ่นสีฝุ่นไว้เลย</a:t>
            </a:r>
          </a:p>
        </p:txBody>
      </p:sp>
      <p:sp>
        <p:nvSpPr>
          <p:cNvPr id="17" name="Oval 16"/>
          <p:cNvSpPr/>
          <p:nvPr/>
        </p:nvSpPr>
        <p:spPr>
          <a:xfrm>
            <a:off x="804671" y="5138928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084064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เริ่มเขียนหน้า kiosk แนวตั้ง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7791" y="1463040"/>
            <a:ext cx="2103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1" y="1463040"/>
            <a:ext cx="2103120" cy="7772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15727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DF0"/>
                </a:solidFill>
                <a:latin typeface="Leelawadee UI"/>
              </a:rPr>
              <a:t>สัปดาห์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1828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ขึ้นโครง</a:t>
            </a:r>
          </a:p>
        </p:txBody>
      </p:sp>
      <p:sp>
        <p:nvSpPr>
          <p:cNvPr id="23" name="Oval 22"/>
          <p:cNvSpPr/>
          <p:nvPr/>
        </p:nvSpPr>
        <p:spPr>
          <a:xfrm>
            <a:off x="3072384" y="2450592"/>
            <a:ext cx="82296" cy="822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5263" y="2395728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ตัดเหล็กตามรายการ</a:t>
            </a:r>
          </a:p>
        </p:txBody>
      </p:sp>
      <p:sp>
        <p:nvSpPr>
          <p:cNvPr id="25" name="Oval 24"/>
          <p:cNvSpPr/>
          <p:nvPr/>
        </p:nvSpPr>
        <p:spPr>
          <a:xfrm>
            <a:off x="3072384" y="3346704"/>
            <a:ext cx="82296" cy="822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5263" y="32918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เชื่อมฐานและตั้งเสา</a:t>
            </a:r>
          </a:p>
        </p:txBody>
      </p:sp>
      <p:sp>
        <p:nvSpPr>
          <p:cNvPr id="27" name="Oval 26"/>
          <p:cNvSpPr/>
          <p:nvPr/>
        </p:nvSpPr>
        <p:spPr>
          <a:xfrm>
            <a:off x="3072384" y="4242816"/>
            <a:ext cx="82296" cy="822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5263" y="4187952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ใส่คานรับเครื่องทอนเหรียญ</a:t>
            </a:r>
          </a:p>
        </p:txBody>
      </p:sp>
      <p:sp>
        <p:nvSpPr>
          <p:cNvPr id="29" name="Oval 28"/>
          <p:cNvSpPr/>
          <p:nvPr/>
        </p:nvSpPr>
        <p:spPr>
          <a:xfrm>
            <a:off x="3072384" y="5138928"/>
            <a:ext cx="82296" cy="822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55263" y="5084064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ลองประกอบแห้งกับอุปกรณ์จริง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75504" y="1463040"/>
            <a:ext cx="2103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75504" y="1463040"/>
            <a:ext cx="2103120" cy="7772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15727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DF0"/>
                </a:solidFill>
                <a:latin typeface="Leelawadee UI"/>
              </a:rPr>
              <a:t>สัปดาห์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1828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พ่นสี + เดินระบบ</a:t>
            </a:r>
          </a:p>
        </p:txBody>
      </p:sp>
      <p:sp>
        <p:nvSpPr>
          <p:cNvPr id="35" name="Oval 34"/>
          <p:cNvSpPr/>
          <p:nvPr/>
        </p:nvSpPr>
        <p:spPr>
          <a:xfrm>
            <a:off x="5340096" y="2450592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22976" y="2395728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ส่งพ่นสีฝุ่น รอ 3-4 วัน</a:t>
            </a:r>
          </a:p>
        </p:txBody>
      </p:sp>
      <p:sp>
        <p:nvSpPr>
          <p:cNvPr id="37" name="Oval 36"/>
          <p:cNvSpPr/>
          <p:nvPr/>
        </p:nvSpPr>
        <p:spPr>
          <a:xfrm>
            <a:off x="5340096" y="3346704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2976" y="32918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ระหว่างรอ ทดสอบหน้าเว็บบนโต๊ะ</a:t>
            </a:r>
          </a:p>
        </p:txBody>
      </p:sp>
      <p:sp>
        <p:nvSpPr>
          <p:cNvPr id="39" name="Oval 38"/>
          <p:cNvSpPr/>
          <p:nvPr/>
        </p:nvSpPr>
        <p:spPr>
          <a:xfrm>
            <a:off x="5340096" y="4242816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2976" y="4187952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ประกอบกลับ เดินสายไฟและสายสัญญาณ</a:t>
            </a:r>
          </a:p>
        </p:txBody>
      </p:sp>
      <p:sp>
        <p:nvSpPr>
          <p:cNvPr id="41" name="Oval 40"/>
          <p:cNvSpPr/>
          <p:nvPr/>
        </p:nvSpPr>
        <p:spPr>
          <a:xfrm>
            <a:off x="5340096" y="5138928"/>
            <a:ext cx="82296" cy="8229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22976" y="5084064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ตรวจสายดินด้วยมัลติมิเตอร์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43215" y="1463040"/>
            <a:ext cx="2103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43215" y="1463040"/>
            <a:ext cx="2103120" cy="7772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19" y="15727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DF0"/>
                </a:solidFill>
                <a:latin typeface="Leelawadee UI"/>
              </a:rPr>
              <a:t>สัปดาห์ 4-5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1828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ระบบเงินสด</a:t>
            </a:r>
          </a:p>
        </p:txBody>
      </p:sp>
      <p:sp>
        <p:nvSpPr>
          <p:cNvPr id="47" name="Oval 46"/>
          <p:cNvSpPr/>
          <p:nvPr/>
        </p:nvSpPr>
        <p:spPr>
          <a:xfrm>
            <a:off x="7607807" y="2450592"/>
            <a:ext cx="82296" cy="8229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90688" y="2395728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ต่อบอร์ดควบคุมกับเครื่องรับเงิน</a:t>
            </a:r>
          </a:p>
        </p:txBody>
      </p:sp>
      <p:sp>
        <p:nvSpPr>
          <p:cNvPr id="49" name="Oval 48"/>
          <p:cNvSpPr/>
          <p:nvPr/>
        </p:nvSpPr>
        <p:spPr>
          <a:xfrm>
            <a:off x="7607807" y="3346704"/>
            <a:ext cx="82296" cy="8229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90688" y="32918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เขียนกฎการทอนและโหมดเหรียญใกล้หมด</a:t>
            </a:r>
          </a:p>
        </p:txBody>
      </p:sp>
      <p:sp>
        <p:nvSpPr>
          <p:cNvPr id="51" name="Oval 50"/>
          <p:cNvSpPr/>
          <p:nvPr/>
        </p:nvSpPr>
        <p:spPr>
          <a:xfrm>
            <a:off x="7607807" y="4242816"/>
            <a:ext cx="82296" cy="8229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90688" y="4187952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ทดสอบทอนเงิน 200 ครั้ง นับให้ตรงทุกบาท</a:t>
            </a:r>
          </a:p>
        </p:txBody>
      </p:sp>
      <p:sp>
        <p:nvSpPr>
          <p:cNvPr id="53" name="Oval 52"/>
          <p:cNvSpPr/>
          <p:nvPr/>
        </p:nvSpPr>
        <p:spPr>
          <a:xfrm>
            <a:off x="7607807" y="5138928"/>
            <a:ext cx="82296" cy="8229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90688" y="5084064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ทดสอบกรณีเหรียญติดและไฟดับกลางคัน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10928" y="1463040"/>
            <a:ext cx="2103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10928" y="1463040"/>
            <a:ext cx="2103120" cy="77724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15727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BDDF0"/>
                </a:solidFill>
                <a:latin typeface="Leelawadee UI"/>
              </a:rPr>
              <a:t>สัปดาห์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57232" y="1828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Leelawadee UI"/>
              </a:rPr>
              <a:t>ทดสอบ + เปิดใช้</a:t>
            </a:r>
          </a:p>
        </p:txBody>
      </p:sp>
      <p:sp>
        <p:nvSpPr>
          <p:cNvPr id="59" name="Oval 58"/>
          <p:cNvSpPr/>
          <p:nvPr/>
        </p:nvSpPr>
        <p:spPr>
          <a:xfrm>
            <a:off x="9875519" y="2450592"/>
            <a:ext cx="82296" cy="8229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0" y="2395728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ทดสอบครบทุกเมนู อย่างละ 20 ครั้ง</a:t>
            </a:r>
          </a:p>
        </p:txBody>
      </p:sp>
      <p:sp>
        <p:nvSpPr>
          <p:cNvPr id="61" name="Oval 60"/>
          <p:cNvSpPr/>
          <p:nvPr/>
        </p:nvSpPr>
        <p:spPr>
          <a:xfrm>
            <a:off x="9875519" y="3346704"/>
            <a:ext cx="82296" cy="8229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0" y="3291840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ยึดตู้ติดพื้น ตั้งจริงหน้าประตู</a:t>
            </a:r>
          </a:p>
        </p:txBody>
      </p:sp>
      <p:sp>
        <p:nvSpPr>
          <p:cNvPr id="63" name="Oval 62"/>
          <p:cNvSpPr/>
          <p:nvPr/>
        </p:nvSpPr>
        <p:spPr>
          <a:xfrm>
            <a:off x="9875519" y="4242816"/>
            <a:ext cx="82296" cy="8229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0" y="4187952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ให้พนักงานยืนดู 3 วันแรก</a:t>
            </a:r>
          </a:p>
        </p:txBody>
      </p:sp>
      <p:sp>
        <p:nvSpPr>
          <p:cNvPr id="65" name="Oval 64"/>
          <p:cNvSpPr/>
          <p:nvPr/>
        </p:nvSpPr>
        <p:spPr>
          <a:xfrm>
            <a:off x="9875519" y="5138928"/>
            <a:ext cx="82296" cy="8229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0" y="5084064"/>
            <a:ext cx="1627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Leelawadee UI"/>
              </a:rPr>
              <a:t>เก็บฟีดแบ็กแล้วแก้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245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B42318"/>
                </a:solidFill>
                <a:latin typeface="Leelawadee UI"/>
              </a:rPr>
              <a:t>ระบบเงินสดเพิ่มงานอีก 2 สัปดาห์  ส่วนใหญ่หมดไปกับการทดสอบการทอน ซึ่งข้ามไม่ได้ เพราะทอนผิดคือเงินหายจริง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C4EC"/>
                </a:solidFill>
                <a:latin typeface="Leelawadee UI"/>
              </a:rPr>
              <a:t>ความเสี่ยง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</a:rPr>
              <a:t>สิ่งที่อาจไม่เป็นไปตามแผน และวิธีรับมือ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463040" cy="6400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50292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719072"/>
            <a:ext cx="685800" cy="347472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2318"/>
                </a:solidFill>
                <a:latin typeface="Leelawadee UI"/>
              </a:rPr>
              <a:t>สูง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58191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ลูกค้าไม่ยอมใช้ตู้ เดินไปหาพนักงานเหมือนเดิม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90195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ความเสี่ยงอันดับหนึ่ง ไม่ใช่เรื่องเทคนิค  ให้พนักงานยืนข้างตู้สัปดาห์แรกคอยชวนใช้ และทำส่วนลด 5 บาทสำหรับคนที่ซื้อผ่านตู้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6888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50292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724912"/>
            <a:ext cx="685800" cy="347472"/>
          </a:xfrm>
          <a:prstGeom prst="rect">
            <a:avLst/>
          </a:prstGeom>
          <a:solidFill>
            <a:srgbClr val="FCE8E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2318"/>
                </a:solidFill>
                <a:latin typeface="Leelawadee UI"/>
              </a:rPr>
              <a:t>สูง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8775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ตู้มีเงินอยู่ข้างใน กลายเป็นเป้าถูกงัด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90779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ยึดตู้ติดพื้นด้วยพุก M12 สี่จุด  ห้องเก็บเงินล็อกแยกจากประตูตู้  เก็บเงินทุก 2-3 วันไม่ให้สะสมเกิน 2,000 บาท และตั้งตู้ในมุมที่กล้องวงจรปิดเห็นชัด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47472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73075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9476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59359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เหรียญติดในเครื่องทอน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1363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เกิดขึ้นแน่ ไม่ใช่ถ้า  ต้องนับเหรียญที่ออกจริงจากเซนเซอร์ทุกเหรียญ ถ้าไม่ครบให้หยุดทันที พิมพ์สลิปยอดค้าง และบันทึกเข้าระบบให้พนักงานจ่ายคืน  ห้ามเดาว่าทอนไปแล้ว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8056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48056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473659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59943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เน็ตยิมล่ม ตู้ใช้ไม่ได้ทั้งวัน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91947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ทุกอย่างวิ่งผ่าน Firebase  รับมือด้วย Router 4G สำรองในเฟส 2 และหน้าจอแจ้งเตือนที่ชัดเจน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86400"/>
            <a:ext cx="10607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502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5742432"/>
            <a:ext cx="685800" cy="347472"/>
          </a:xfrm>
          <a:prstGeom prst="rect">
            <a:avLst/>
          </a:prstGeom>
          <a:solidFill>
            <a:srgbClr val="FFF6E5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Leelawadee UI"/>
              </a:rPr>
              <a:t>กลาง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5605272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A4A"/>
                </a:solidFill>
                <a:latin typeface="Leelawadee UI"/>
              </a:rPr>
              <a:t>ราคาอุปกรณ์ขยับจากที่ประมาณไว้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925312"/>
            <a:ext cx="9326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Leelawadee UI"/>
              </a:rPr>
              <a:t>เครื่องทอนเหรียญเป็นของนำเข้า ราคาแกว่งตามค่าเงินและค่าส่ง  เผื่องบไว้ 10% ประมาณ 5,700 บาท และล็อกราคาจอ Mini PC กับเครื่องทอนก่อนเป็นอันดับแรก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CC4EC"/>
                </a:solidFill>
                <a:latin typeface="Leelawadee UI"/>
              </a:rPr>
              <a:t>สรุป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</a:rPr>
              <a:t>ทำได้จริง และคุ้มที่จะทำ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82880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39572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</a:rPr>
              <a:t>ระบบหลังบ้านพร้อมแล้ว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0662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DF0"/>
                </a:solidFill>
                <a:latin typeface="Leelawadee UI"/>
              </a:rPr>
              <a:t>ฟังก์ชันทั้ง 8 ตัวที่ตู้ต้องใช้มีอยู่และใช้งานจริงอยู่แล้ว งานที่เหลือคือหน้าเว็บกับตัวเครื่อง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346704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255264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</a:rPr>
              <a:t>ต้องรับเงินสด ไม่ใช่ทางเลือก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6616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DF0"/>
                </a:solidFill>
                <a:latin typeface="Leelawadee UI"/>
              </a:rPr>
              <a:t>ข้อมูลจริง 870 บิลบอกว่าลูกค้าจ่ายเงินสด 52.5%  ถ้าตู้รับแต่ QR จะใช้ได้ไม่ถึงครึ่งของลูกค้า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06240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</a:rPr>
              <a:t>56,860 บาท ได้ตู้ที่ใช้งานได้ครบ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25696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DF0"/>
                </a:solidFill>
                <a:latin typeface="Leelawadee UI"/>
              </a:rPr>
              <a:t>เช็คอิน ขายรายวัน ขายสินค้า พิมพ์ใบเสร็จ รับทั้งเงินสดและ QR  คืนทุนประมาณ 26 เดือน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065775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974336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</a:rPr>
              <a:t>ตัดของที่ไม่จำเป็นออก 95,900 บาท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285231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DF0"/>
                </a:solidFill>
                <a:latin typeface="Leelawadee UI"/>
              </a:rPr>
              <a:t>ไม่มีหุ่นยนต์ ไม่มีจอ 32 นิ้ว ไม่มีเครื่องรูดบัตร แต่ยิมได้ทุกอย่างที่ต้องใช้จริง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92531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833872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</a:rPr>
              <a:t>ความเสี่ยงใหญ่สุดไม่ใช่เรื่องเทคนิค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614476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BDDF0"/>
                </a:solidFill>
                <a:latin typeface="Leelawadee UI"/>
              </a:rPr>
              <a:t>คือลูกค้าจะยอมใช้ตู้ไหม และตู้ที่มีเงินอยู่ข้างในต้องยึดพื้นและล็อกให้ดี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6446520"/>
            <a:ext cx="10149840" cy="36576"/>
          </a:xfrm>
          <a:prstGeom prst="rect">
            <a:avLst/>
          </a:prstGeom>
          <a:solidFill>
            <a:srgbClr val="2C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